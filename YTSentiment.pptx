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B88E0C-2A18-3B14-91D3-71CF2FF62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D2BDFF4-C7DA-DC56-9B08-0898681C4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79653E-5219-0C27-6757-0AA5FFF4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789A4D-A5FA-3E27-70AB-DA441C680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CD3BA0-56AD-6886-9236-4D3B9F9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057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B9E789-BBBB-614E-E76F-4BCD3F0D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BEF7DE-C593-6EA9-0A73-1AFC37F01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2620F3-E448-40B0-51ED-BE073A85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88E04B-2DD8-42E0-E78E-B9D85BB6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E88325-C665-6CF8-2AAC-3FA67BC6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2363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1A0851-87CC-798C-2CD1-DBFE603F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A883DE-B083-11BE-B524-0B003E506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0175CA-1D77-2FF3-B7DA-7FD17C07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DC3E16-9547-EBEF-F4DE-44A42804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48BE88-E3E5-59E9-8898-06B28295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390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CC67-D297-73D5-7EBD-65ECDB5F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06DDA6-5500-D562-4A0E-0DBC4F98B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F59F237-AAF5-49A1-B3D7-D998F9B65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D5DB0C1-4EBD-C972-F2E1-AB253B29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E1A97A7-22E9-7C20-A7A0-C845992C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C5EE12-05FC-D328-55D0-6B24F93F3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69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8469F5-7040-A639-AA47-A2C7E119F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E0350C-4404-846A-7E11-B9756C998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AFC0A82-B1D4-4E48-D089-EF30DC08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0613F28-CF0F-77AB-FD67-4CEC0E8B3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4931976-5CB6-2396-8CDD-1EC8741C9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4F69CA-81BA-FBAC-69C7-70824A52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0C1EC91-46DF-87BA-BEB0-D0BDCE2C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926AB07-0B74-1355-F60D-78B3E8FF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1606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5BCD8B-8ACE-B2B8-8FE3-A041B32D2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9A35730-C32C-4E93-8552-7060F29A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7847254-4029-3358-D5A4-73EFFBE3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5EB3E33-2582-97A3-2434-7AEC1A42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78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5AFDEA8-782E-33A1-03D7-1D606B25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EF79D4E-4C01-C6CA-91D8-B0F649B69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369B18-6820-E6EA-3668-0E3B4623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838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25ADD6-A505-78CE-9026-73A39C21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82266A-0447-2005-CBD2-1C484507A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AED1D5F-5DFC-F467-7F93-6A7912408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86AADA1-FEC2-C8AD-CCC5-1FBC73ED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5A5E94E-01A1-49E8-204D-76B95D05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FC38E6F-5071-7E98-E7E4-21083C14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0579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90761-95B1-B039-B5A1-ED3F1639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395DC69-2743-9ABD-ECE5-CDAFF2201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705B78-64A1-85D1-998D-E5987C53E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101BFC7-31C8-F07B-2DF8-E23B9F9A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80DE283-E400-66A2-270B-E3CE5096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90C5BF-E30F-751F-C536-35A5D048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093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57A97-9442-2B17-6A1F-25A8DD22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E556581-F1CA-533D-2612-51FBE64C7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FEA602-E32D-97DA-476F-309B1DE6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1A445B-C8B8-7D49-EF73-61F9CF6D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C92DBC-8C02-9F46-6426-59257BB8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70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84240A1-7909-18B6-6F4A-0BA3E7512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9EFC57D-D3AF-83DD-D608-75F5ADE8E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8D3AF3-BACD-60FA-FE07-96680CA2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FD4BBF-F0A7-BB97-54E2-72F0951A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D29B31-F2B8-EB87-2C66-202E9178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344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E0434E9-8F76-C7B3-EAB3-EDA9C693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5B7E6D-3A9C-D946-FCF5-5C6EB8DD6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780185-5D4A-8CE0-8571-1769DDAA9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B264E-AB91-48EB-B7C8-3C0F3CF21E38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0CE8FA-5D16-8DB3-FEB0-E5F3DBD6E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78CE40-4D85-6058-B87C-0F78EDE67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88134-62FE-4161-B9AB-B6F6DFE055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923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CA1C30-13AE-35F2-6B09-D2EB11AAA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0" y="733473"/>
            <a:ext cx="11916697" cy="806245"/>
          </a:xfrm>
        </p:spPr>
        <p:txBody>
          <a:bodyPr>
            <a:normAutofit/>
          </a:bodyPr>
          <a:lstStyle/>
          <a:p>
            <a:r>
              <a:rPr lang="it-IT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Sentiment Analysis YouTube live streaming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F9EFDD1-064C-EB90-99B4-5F4E3EF7D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50" y="6233653"/>
            <a:ext cx="3038168" cy="500473"/>
          </a:xfrm>
        </p:spPr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Pavone Federico Ivan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9FC84B-633B-FF8D-A3D7-81056CAE1E3A}"/>
              </a:ext>
            </a:extLst>
          </p:cNvPr>
          <p:cNvSpPr txBox="1"/>
          <p:nvPr/>
        </p:nvSpPr>
        <p:spPr>
          <a:xfrm>
            <a:off x="3500282" y="6233653"/>
            <a:ext cx="134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17/07/2026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DB9D68B-8EA6-6D39-5155-712DA142B92D}"/>
              </a:ext>
            </a:extLst>
          </p:cNvPr>
          <p:cNvSpPr txBox="1"/>
          <p:nvPr/>
        </p:nvSpPr>
        <p:spPr>
          <a:xfrm>
            <a:off x="2099187" y="171130"/>
            <a:ext cx="7993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Progetto</a:t>
            </a:r>
            <a:r>
              <a:rPr lang="it-IT" sz="2600" dirty="0"/>
              <a:t> </a:t>
            </a: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finale</a:t>
            </a:r>
            <a:r>
              <a:rPr lang="it-IT" sz="2600" dirty="0"/>
              <a:t> Technologies for Advanced Programming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D08ABD2B-6492-AE43-A15C-15158382E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356" y="4463845"/>
            <a:ext cx="3972991" cy="227028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96A2807A-8458-3826-658C-EC96E381D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119" y="2116629"/>
            <a:ext cx="6586156" cy="262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9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982473-BE2F-276F-A09B-8CF105CE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/>
              <a:t>Step 1: Data Ingestion con Apache </a:t>
            </a:r>
            <a:r>
              <a:rPr lang="en-US" sz="3600" b="1" dirty="0" err="1"/>
              <a:t>Nifi</a:t>
            </a:r>
            <a:endParaRPr lang="en-US" sz="3600" b="1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D6188A8-03F6-48A7-10FA-4A72064D7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9659"/>
            <a:ext cx="4050418" cy="398966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176870C-F6C2-51A5-9E00-B064EA6A9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421" y="1984467"/>
            <a:ext cx="8668692" cy="4269329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74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CA0A9-6A4E-D9E3-7C25-1E450EC5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FC15DC2-B7E8-3EF2-3A40-505DB18AF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B670D42-DA1F-5864-9D68-442D064E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5" y="246205"/>
            <a:ext cx="10485320" cy="1019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cs typeface="Times New Roman" panose="02020603050405020304" pitchFamily="18" charset="0"/>
              </a:rPr>
              <a:t>Step 1: Data Ingestion con Apache </a:t>
            </a:r>
            <a:r>
              <a:rPr lang="en-US" sz="3600" b="1" kern="12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Nifi</a:t>
            </a:r>
            <a:endParaRPr lang="en-US" sz="3600" b="1" kern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24F9D6-F66B-5E77-2255-3CFD61EC2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550" y="1804664"/>
            <a:ext cx="3958308" cy="3511958"/>
          </a:xfrm>
        </p:spPr>
        <p:txBody>
          <a:bodyPr>
            <a:normAutofit/>
          </a:bodyPr>
          <a:lstStyle/>
          <a:p>
            <a:r>
              <a:rPr lang="it-IT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UI drag and drop</a:t>
            </a:r>
          </a:p>
          <a:p>
            <a:r>
              <a:rPr lang="it-IT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Sicurezza (https e </a:t>
            </a:r>
            <a:r>
              <a:rPr lang="it-IT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lang="it-IT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di autenticazione)</a:t>
            </a:r>
          </a:p>
          <a:p>
            <a:r>
              <a:rPr lang="it-IT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 del flusso di dati in </a:t>
            </a:r>
            <a:r>
              <a:rPr lang="it-IT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it-IT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415CB62-E92B-6E64-06EC-1A5EEEF4BB5E}"/>
              </a:ext>
            </a:extLst>
          </p:cNvPr>
          <p:cNvSpPr txBox="1"/>
          <p:nvPr/>
        </p:nvSpPr>
        <p:spPr>
          <a:xfrm>
            <a:off x="1277835" y="1100067"/>
            <a:ext cx="1557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Pro: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CD67A5F-EA79-65AC-B00B-D5635836EEA4}"/>
              </a:ext>
            </a:extLst>
          </p:cNvPr>
          <p:cNvSpPr txBox="1"/>
          <p:nvPr/>
        </p:nvSpPr>
        <p:spPr>
          <a:xfrm>
            <a:off x="8801384" y="1100066"/>
            <a:ext cx="1758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</a:t>
            </a:r>
            <a:r>
              <a:rPr lang="it-IT" dirty="0"/>
              <a:t>: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850811A-5463-F5BA-DCD5-75FF3CD0F267}"/>
              </a:ext>
            </a:extLst>
          </p:cNvPr>
          <p:cNvSpPr txBox="1"/>
          <p:nvPr/>
        </p:nvSpPr>
        <p:spPr>
          <a:xfrm>
            <a:off x="7315201" y="1804663"/>
            <a:ext cx="52613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Qualche minuto per inizializzarsi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Rischio design confusionario all’aumentare dei processori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A807147-13A8-5EF8-43B6-51C1FF885D30}"/>
              </a:ext>
            </a:extLst>
          </p:cNvPr>
          <p:cNvSpPr txBox="1"/>
          <p:nvPr/>
        </p:nvSpPr>
        <p:spPr>
          <a:xfrm>
            <a:off x="387550" y="5551640"/>
            <a:ext cx="9248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400" u="sng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Nel </a:t>
            </a:r>
            <a:r>
              <a:rPr lang="it-IT" sz="2400" u="sng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it-IT" sz="2400" u="sng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compose: volumi </a:t>
            </a:r>
            <a:r>
              <a:rPr lang="it-IT" sz="2400" u="sng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nifi_conf</a:t>
            </a:r>
            <a:r>
              <a:rPr lang="it-IT" sz="2400" u="sng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2400" u="sng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nifi_state</a:t>
            </a:r>
            <a:r>
              <a:rPr lang="it-IT" sz="2400" u="sng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per non dover caricare e avviare i processori manualmente</a:t>
            </a:r>
          </a:p>
        </p:txBody>
      </p:sp>
    </p:spTree>
    <p:extLst>
      <p:ext uri="{BB962C8B-B14F-4D97-AF65-F5344CB8AC3E}">
        <p14:creationId xmlns:p14="http://schemas.microsoft.com/office/powerpoint/2010/main" val="110895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16B83-372A-364E-4A5E-BB7F6CCB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FEBA490-25C5-2612-AC3B-5215C72C8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15FA30-47C1-5837-A38B-4BDD56AC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4" y="246205"/>
            <a:ext cx="10219849" cy="1019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2: Data </a:t>
            </a:r>
            <a:r>
              <a:rPr lang="en-US" sz="3600" b="1" dirty="0"/>
              <a:t>Streaming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Apache </a:t>
            </a:r>
            <a:r>
              <a:rPr lang="en-US" sz="3600" b="1" dirty="0"/>
              <a:t>Kafka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656533A-120E-0D1B-3BF3-26B2FC0E21BF}"/>
              </a:ext>
            </a:extLst>
          </p:cNvPr>
          <p:cNvSpPr txBox="1"/>
          <p:nvPr/>
        </p:nvSpPr>
        <p:spPr>
          <a:xfrm>
            <a:off x="350081" y="1978719"/>
            <a:ext cx="627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Kafka broker ricevente da Nifi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9B7880A-717F-7B4D-06DA-91A45D23364C}"/>
              </a:ext>
            </a:extLst>
          </p:cNvPr>
          <p:cNvSpPr txBox="1"/>
          <p:nvPr/>
        </p:nvSpPr>
        <p:spPr>
          <a:xfrm>
            <a:off x="486328" y="1412599"/>
            <a:ext cx="3446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principale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C148977-C6A3-1FF7-00AA-49EDA1C40AB5}"/>
              </a:ext>
            </a:extLst>
          </p:cNvPr>
          <p:cNvSpPr txBox="1"/>
          <p:nvPr/>
        </p:nvSpPr>
        <p:spPr>
          <a:xfrm>
            <a:off x="486328" y="3276141"/>
            <a:ext cx="376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secondario: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7C885BD-DFBC-0D68-04DA-C042F90085B7}"/>
              </a:ext>
            </a:extLst>
          </p:cNvPr>
          <p:cNvSpPr txBox="1"/>
          <p:nvPr/>
        </p:nvSpPr>
        <p:spPr>
          <a:xfrm>
            <a:off x="350081" y="3833584"/>
            <a:ext cx="8843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32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Create-</a:t>
            </a:r>
            <a:r>
              <a:rPr lang="it-IT" sz="32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sz="32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crea </a:t>
            </a:r>
            <a:r>
              <a:rPr lang="it-IT" sz="32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sz="32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yt-comments</a:t>
            </a:r>
            <a:r>
              <a:rPr lang="it-IT" sz="32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 termina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DA7439B-82B1-D92E-0595-985D06739FCC}"/>
              </a:ext>
            </a:extLst>
          </p:cNvPr>
          <p:cNvSpPr txBox="1"/>
          <p:nvPr/>
        </p:nvSpPr>
        <p:spPr>
          <a:xfrm>
            <a:off x="486328" y="4557516"/>
            <a:ext cx="7800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Dipende dal broker principale </a:t>
            </a:r>
            <a:r>
              <a:rPr lang="it-IT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impiega qualche secondo </a:t>
            </a:r>
            <a:endParaRPr lang="it-IT" sz="24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F7AD35F8-305C-393D-94C9-B49FBCA4B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906" y="3924735"/>
            <a:ext cx="1707167" cy="114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7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5E95C-6B17-8C00-DE98-3D27CCB5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A787DF8-67CC-B69A-B2AB-7D8EA236A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FDD4307-760C-CC01-F498-81E9AC46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4" y="246205"/>
            <a:ext cx="10219849" cy="10198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3: Data Processing con </a:t>
            </a:r>
            <a:r>
              <a:rPr lang="en-US" sz="3600" b="1" dirty="0"/>
              <a:t>Spark Structured Streaming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017E1C-4761-B875-AE58-45E90DAB1B72}"/>
              </a:ext>
            </a:extLst>
          </p:cNvPr>
          <p:cNvSpPr txBox="1"/>
          <p:nvPr/>
        </p:nvSpPr>
        <p:spPr>
          <a:xfrm>
            <a:off x="350081" y="1890723"/>
            <a:ext cx="6856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Iscritto al </a:t>
            </a:r>
            <a:r>
              <a:rPr lang="it-IT" sz="32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kafka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yt-comments</a:t>
            </a:r>
            <a:endParaRPr lang="it-IT" sz="3200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57FBD6D-FB53-3ADA-F8DE-78D12A057ACC}"/>
              </a:ext>
            </a:extLst>
          </p:cNvPr>
          <p:cNvSpPr txBox="1"/>
          <p:nvPr/>
        </p:nvSpPr>
        <p:spPr>
          <a:xfrm>
            <a:off x="74524" y="3870256"/>
            <a:ext cx="527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 di partire: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74F557D-2D5A-525D-B97E-C11DF4F1A11D}"/>
              </a:ext>
            </a:extLst>
          </p:cNvPr>
          <p:cNvSpPr txBox="1"/>
          <p:nvPr/>
        </p:nvSpPr>
        <p:spPr>
          <a:xfrm>
            <a:off x="0" y="4672581"/>
            <a:ext cx="8843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it-IT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Aspetta che create-</a:t>
            </a:r>
            <a:r>
              <a:rPr lang="it-IT" sz="3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it-IT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completi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17D894A-DA63-BABA-1D21-965034D0E18A}"/>
              </a:ext>
            </a:extLst>
          </p:cNvPr>
          <p:cNvSpPr txBox="1"/>
          <p:nvPr/>
        </p:nvSpPr>
        <p:spPr>
          <a:xfrm>
            <a:off x="74524" y="5418902"/>
            <a:ext cx="7800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it-IT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Aspetta </a:t>
            </a:r>
            <a:r>
              <a:rPr lang="it-IT" sz="3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endParaRPr lang="it-IT" sz="3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F0F9BA8-971D-8659-ED16-509F6AEA2437}"/>
              </a:ext>
            </a:extLst>
          </p:cNvPr>
          <p:cNvSpPr txBox="1"/>
          <p:nvPr/>
        </p:nvSpPr>
        <p:spPr>
          <a:xfrm>
            <a:off x="350081" y="2637044"/>
            <a:ext cx="85972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Colonne Autore, </a:t>
            </a:r>
            <a:r>
              <a:rPr lang="it-IT" sz="32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CommentText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32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CommentID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 aggiunge colonna Sentiment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7AD95E-346D-0F92-C3AF-3882DD556CD3}"/>
              </a:ext>
            </a:extLst>
          </p:cNvPr>
          <p:cNvSpPr txBox="1"/>
          <p:nvPr/>
        </p:nvSpPr>
        <p:spPr>
          <a:xfrm>
            <a:off x="350081" y="1219889"/>
            <a:ext cx="6695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Esegue lo script principale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B06FE61-99AB-56F2-E9C3-35CB896FB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744" y="4652401"/>
            <a:ext cx="2852079" cy="154197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9CE600-BB00-B324-DC1A-F5A7FCA90E45}"/>
              </a:ext>
            </a:extLst>
          </p:cNvPr>
          <p:cNvSpPr txBox="1"/>
          <p:nvPr/>
        </p:nvSpPr>
        <p:spPr>
          <a:xfrm>
            <a:off x="9668881" y="5257356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pt</a:t>
            </a:r>
            <a:r>
              <a:rPr lang="it-IT" dirty="0"/>
              <a:t>. 2</a:t>
            </a:r>
          </a:p>
        </p:txBody>
      </p:sp>
    </p:spTree>
    <p:extLst>
      <p:ext uri="{BB962C8B-B14F-4D97-AF65-F5344CB8AC3E}">
        <p14:creationId xmlns:p14="http://schemas.microsoft.com/office/powerpoint/2010/main" val="238522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C7B5C-9658-F4A9-EAB8-DB5982EF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D0E0B73-F2EF-8A85-8117-4207ABF1B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B3B90BF-CCDD-132F-5042-936CB0C0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4" y="246205"/>
            <a:ext cx="10219849" cy="1019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3.1: Machine learning con Spark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MLLib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541474-7CB2-FB39-7407-E8B960FF8F93}"/>
              </a:ext>
            </a:extLst>
          </p:cNvPr>
          <p:cNvSpPr txBox="1"/>
          <p:nvPr/>
        </p:nvSpPr>
        <p:spPr>
          <a:xfrm>
            <a:off x="733539" y="1874864"/>
            <a:ext cx="792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lang="it-IT" sz="2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it-IT" sz="2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con TF-IDF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Modello salvato in locale caricato tramite volume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1BFFD6F-1182-12B8-1E96-D7601EBB0E3F}"/>
              </a:ext>
            </a:extLst>
          </p:cNvPr>
          <p:cNvSpPr txBox="1"/>
          <p:nvPr/>
        </p:nvSpPr>
        <p:spPr>
          <a:xfrm>
            <a:off x="261592" y="3034348"/>
            <a:ext cx="86267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https://www.kaggle.com/datasets/amaanpoonawala/youtube-comments-sentiment-dataset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BEF140-938A-370E-AA74-F7B6F4B4772D}"/>
              </a:ext>
            </a:extLst>
          </p:cNvPr>
          <p:cNvSpPr txBox="1"/>
          <p:nvPr/>
        </p:nvSpPr>
        <p:spPr>
          <a:xfrm>
            <a:off x="350081" y="1219889"/>
            <a:ext cx="7240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it-IT" sz="32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Script di training eseguito una volta </a:t>
            </a:r>
            <a:r>
              <a:rPr lang="it-IT" sz="32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it-IT" sz="3200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8AE25E8-BD2B-14DF-58AB-35E844227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799" y="3112972"/>
            <a:ext cx="1650929" cy="209812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45D0E7-BA6B-FD97-6703-89B6E596A5CD}"/>
              </a:ext>
            </a:extLst>
          </p:cNvPr>
          <p:cNvSpPr txBox="1"/>
          <p:nvPr/>
        </p:nvSpPr>
        <p:spPr>
          <a:xfrm>
            <a:off x="261592" y="4809385"/>
            <a:ext cx="4241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Accuratezza modello: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1014B3F1-B4A8-E2FA-A389-6651383A0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68" y="5454531"/>
            <a:ext cx="7309248" cy="55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8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CF5E9-42A4-D4CA-D224-F9A50E38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3DE303D-B18C-6D13-176E-D89621297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58AE9DD-0A17-43C3-B3CA-5F865D34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4" y="246205"/>
            <a:ext cx="10219849" cy="1019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</a:t>
            </a:r>
            <a:r>
              <a:rPr lang="en-US" sz="3600" b="1" dirty="0"/>
              <a:t>4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Data indexing con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ElasticSearch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3CF1FF5-BA22-DC73-D955-2D526171CEAA}"/>
              </a:ext>
            </a:extLst>
          </p:cNvPr>
          <p:cNvSpPr txBox="1"/>
          <p:nvPr/>
        </p:nvSpPr>
        <p:spPr>
          <a:xfrm>
            <a:off x="157316" y="1266072"/>
            <a:ext cx="6636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-sentiment: punto d’incontro  tra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5989125-73BB-3ED2-ADDE-CF37D8F6CB80}"/>
              </a:ext>
            </a:extLst>
          </p:cNvPr>
          <p:cNvSpPr txBox="1"/>
          <p:nvPr/>
        </p:nvSpPr>
        <p:spPr>
          <a:xfrm>
            <a:off x="157316" y="2800152"/>
            <a:ext cx="4866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 RAM limitato a 512MB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F6EEF06-A978-BDE9-9700-DD853E449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713" y="2485499"/>
            <a:ext cx="2095500" cy="115252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2C314DC-57FB-AD14-1559-586D510478D6}"/>
              </a:ext>
            </a:extLst>
          </p:cNvPr>
          <p:cNvSpPr txBox="1"/>
          <p:nvPr/>
        </p:nvSpPr>
        <p:spPr>
          <a:xfrm>
            <a:off x="157316" y="4709403"/>
            <a:ext cx="63811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 salvato tra più sessioni tramite volume </a:t>
            </a:r>
            <a:r>
              <a:rPr lang="it-IT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es_data</a:t>
            </a:r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9BB5DC6E-303C-CFBF-7B9D-15078156BB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278" y="4502556"/>
            <a:ext cx="1617625" cy="149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96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43046-CB4F-C9DA-C28A-4DADE119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051A3F5-74FF-1891-1472-76153FFDA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15EC5F3-ACE9-725F-DB1E-193802B4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4" y="246205"/>
            <a:ext cx="10219849" cy="1019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5: Data </a:t>
            </a:r>
            <a:r>
              <a:rPr lang="en-US" sz="3600" b="1" dirty="0"/>
              <a:t>visualization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</a:t>
            </a:r>
            <a:r>
              <a:rPr lang="en-US" sz="3600" b="1" dirty="0"/>
              <a:t>Kibana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50009CC-09CB-7CA9-C675-20F41C00A8B4}"/>
              </a:ext>
            </a:extLst>
          </p:cNvPr>
          <p:cNvSpPr txBox="1"/>
          <p:nvPr/>
        </p:nvSpPr>
        <p:spPr>
          <a:xfrm>
            <a:off x="157316" y="1266072"/>
            <a:ext cx="6636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it-IT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Indice </a:t>
            </a:r>
            <a:r>
              <a:rPr lang="it-IT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yt</a:t>
            </a:r>
            <a:r>
              <a:rPr lang="it-IT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-sentiment: punto d’incontro  tra </a:t>
            </a:r>
            <a:r>
              <a:rPr lang="it-IT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Elastic</a:t>
            </a:r>
            <a:r>
              <a:rPr lang="it-IT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Kibana</a:t>
            </a:r>
            <a:endParaRPr lang="it-IT" sz="28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932AFAF-BADD-48C1-FF31-BE256285E79D}"/>
              </a:ext>
            </a:extLst>
          </p:cNvPr>
          <p:cNvSpPr txBox="1"/>
          <p:nvPr/>
        </p:nvSpPr>
        <p:spPr>
          <a:xfrm>
            <a:off x="74524" y="2366726"/>
            <a:ext cx="64401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Visualizzazione dei dati e possibilità di organizzarli in diagrammi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0630185-0942-1B7A-054B-ABC90C2913C4}"/>
              </a:ext>
            </a:extLst>
          </p:cNvPr>
          <p:cNvSpPr txBox="1"/>
          <p:nvPr/>
        </p:nvSpPr>
        <p:spPr>
          <a:xfrm>
            <a:off x="157316" y="4170985"/>
            <a:ext cx="6115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Dipende da </a:t>
            </a:r>
            <a:r>
              <a:rPr lang="it-IT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880AFC-8074-4A8F-0D6A-0DDFD339AA07}"/>
              </a:ext>
            </a:extLst>
          </p:cNvPr>
          <p:cNvSpPr txBox="1"/>
          <p:nvPr/>
        </p:nvSpPr>
        <p:spPr>
          <a:xfrm>
            <a:off x="157316" y="5114874"/>
            <a:ext cx="69710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kibana.yml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locale caricato direttamente nel container tramite volume</a:t>
            </a:r>
          </a:p>
        </p:txBody>
      </p:sp>
    </p:spTree>
    <p:extLst>
      <p:ext uri="{BB962C8B-B14F-4D97-AF65-F5344CB8AC3E}">
        <p14:creationId xmlns:p14="http://schemas.microsoft.com/office/powerpoint/2010/main" val="364636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26477-0679-A3D5-CF54-C259B799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96A9C9-8AC3-F9DE-7A61-58C08F0C8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69DCE6FE-95C8-0FFA-57DD-4B6A4F27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Facciamo un test…</a:t>
            </a:r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D72DCF4-CBE7-D528-8011-F751B2E26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24" y="1521312"/>
            <a:ext cx="4405312" cy="440531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4860E0B-8A7B-AD2D-8339-6A5685EF42D2}"/>
              </a:ext>
            </a:extLst>
          </p:cNvPr>
          <p:cNvSpPr txBox="1"/>
          <p:nvPr/>
        </p:nvSpPr>
        <p:spPr>
          <a:xfrm>
            <a:off x="4016563" y="6092765"/>
            <a:ext cx="3794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Live 4k Video of Earth and Space</a:t>
            </a:r>
          </a:p>
        </p:txBody>
      </p:sp>
    </p:spTree>
    <p:extLst>
      <p:ext uri="{BB962C8B-B14F-4D97-AF65-F5344CB8AC3E}">
        <p14:creationId xmlns:p14="http://schemas.microsoft.com/office/powerpoint/2010/main" val="3483116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5C904-E4D7-35F0-A898-38DF6AE4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0B79B87-3522-CA0B-5B63-4444B374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F83BC09D-FA45-643A-DCCB-86BB950E5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058" y="660093"/>
            <a:ext cx="6486833" cy="1325563"/>
          </a:xfrm>
        </p:spPr>
        <p:txBody>
          <a:bodyPr>
            <a:normAutofit/>
          </a:bodyPr>
          <a:lstStyle/>
          <a:p>
            <a:r>
              <a:rPr lang="it-I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Grazie dell’attenzione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8818203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Wingdings</vt:lpstr>
      <vt:lpstr>Tema di Office</vt:lpstr>
      <vt:lpstr>Real time Sentiment Analysis YouTube live streaming</vt:lpstr>
      <vt:lpstr>Step 1: Data Ingestion con Apache Nifi</vt:lpstr>
      <vt:lpstr>Step 1: Data Ingestion con Apache Nifi</vt:lpstr>
      <vt:lpstr>Step 2: Data Streaming con Apache Kafka</vt:lpstr>
      <vt:lpstr>Step 3: Data Processing con Spark Structured Streaming</vt:lpstr>
      <vt:lpstr>Step 3.1: Machine learning con Spark MLLib</vt:lpstr>
      <vt:lpstr>Step 4: Data indexing con ElasticSearch</vt:lpstr>
      <vt:lpstr>Step 5: Data visualization con Kibana</vt:lpstr>
      <vt:lpstr>Facciamo un test…</vt:lpstr>
      <vt:lpstr>Grazie dell’attenzione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IVAN PAVONE</dc:creator>
  <cp:lastModifiedBy>FEDERICO IVAN PAVONE</cp:lastModifiedBy>
  <cp:revision>1</cp:revision>
  <dcterms:created xsi:type="dcterms:W3CDTF">2026-07-16T21:43:39Z</dcterms:created>
  <dcterms:modified xsi:type="dcterms:W3CDTF">2026-07-17T01:06:55Z</dcterms:modified>
</cp:coreProperties>
</file>